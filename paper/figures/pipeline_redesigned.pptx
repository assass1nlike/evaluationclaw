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5bbf2426214e3b" /><Relationship Type="http://schemas.openxmlformats.org/officeDocument/2006/relationships/extended-properties" Target="/docProps/app.xml" Id="R35d0984ae75047d2" /><Relationship Type="http://schemas.openxmlformats.org/officeDocument/2006/relationships/officeDocument" Target="/ppt/presentation.xml" Id="Rae59153c56104b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7accb339014b4b"/>
  </p:sldMasterIdLst>
  <p:notesMasterIdLst>
    <p:notesMasterId xmlns:r="http://schemas.openxmlformats.org/officeDocument/2006/relationships" r:id="Rc9641c32710c4b7f"/>
  </p:notesMasterIdLst>
  <p:sldIdLst>
    <p:sldId xmlns:r="http://schemas.openxmlformats.org/officeDocument/2006/relationships" id="256" r:id="Re2265f9f9fb14328"/>
  </p:sldIdLst>
  <p:sldSz cx="13716000" cy="66865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f3c722445243af" /><Relationship Type="http://schemas.openxmlformats.org/officeDocument/2006/relationships/slideMaster" Target="/ppt/slideMasters/slideMaster1.xml" Id="R857accb339014b4b" /><Relationship Type="http://schemas.openxmlformats.org/officeDocument/2006/relationships/notesMaster" Target="/ppt/notesMasters/notesMaster1.xml" Id="Rc9641c32710c4b7f" /><Relationship Type="http://schemas.openxmlformats.org/officeDocument/2006/relationships/presProps" Target="/ppt/presProps.xml" Id="Rd1201f33966149be" /><Relationship Type="http://schemas.openxmlformats.org/officeDocument/2006/relationships/tableStyles" Target="/ppt/tableStyles.xml" Id="Ra5fcfb2ed59c436a" /><Relationship Type="http://schemas.openxmlformats.org/officeDocument/2006/relationships/slide" Target="/ppt/slides/slide1.xml" Id="Re2265f9f9fb143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d28bb0855f4c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2213d9fb1349a3" /><Relationship Type="http://schemas.openxmlformats.org/officeDocument/2006/relationships/notesMaster" Target="/ppt/notesMasters/notesMaster1.xml" Id="R892f725fac054c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0e2acd2ede4e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a633ce8e1a46b2" /><Relationship Type="http://schemas.openxmlformats.org/officeDocument/2006/relationships/slideLayout" Target="/ppt/slideLayouts/slideLayout1.xml" Id="R39bf59be749c45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bf59be749c45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aacd5fcee4554" /><Relationship Type="http://schemas.openxmlformats.org/officeDocument/2006/relationships/notesSlide" Target="/ppt/notesSlides/notesSlide1.xml" Id="Ra394b4b5051245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nner-region">
            <a:extLst xmlns:a="http://schemas.openxmlformats.org/drawingml/2006/main">
              <a:ext uri="{FF2B5EF4-FFF2-40B4-BE49-F238E27FC236}">
                <a16:creationId xmlns:a16="http://schemas.microsoft.com/office/drawing/2014/main" id="{48868EF6-0238-4083-A2D0-6DDE5BDC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2895600" cy="590550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arness-region">
            <a:extLst xmlns:a="http://schemas.openxmlformats.org/drawingml/2006/main">
              <a:ext uri="{FF2B5EF4-FFF2-40B4-BE49-F238E27FC236}">
                <a16:creationId xmlns:a16="http://schemas.microsoft.com/office/drawing/2014/main" id="{810061D3-19C7-4CA9-A3DB-84CD6C11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76200"/>
            <a:ext cx="6457950" cy="5905500"/>
          </a:xfrm>
          <a:prstGeom xmlns:a="http://schemas.openxmlformats.org/drawingml/2006/main" prst="roundRect">
            <a:avLst>
              <a:gd name="adj" fmla="val 1935"/>
            </a:avLst>
          </a:prstGeom>
          <a:solidFill xmlns:a="http://schemas.openxmlformats.org/drawingml/2006/main">
            <a:srgbClr val="F1F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nalyzer-region">
            <a:extLst xmlns:a="http://schemas.openxmlformats.org/drawingml/2006/main">
              <a:ext uri="{FF2B5EF4-FFF2-40B4-BE49-F238E27FC236}">
                <a16:creationId xmlns:a16="http://schemas.microsoft.com/office/drawing/2014/main" id="{5C75552F-93B1-4F71-ABF5-6BF7F7CE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76200"/>
            <a:ext cx="3790950" cy="5905500"/>
          </a:xfrm>
          <a:prstGeom xmlns:a="http://schemas.openxmlformats.org/drawingml/2006/main" prst="roundRect">
            <a:avLst>
              <a:gd name="adj" fmla="val 3015"/>
            </a:avLst>
          </a:prstGeom>
          <a:solidFill xmlns:a="http://schemas.openxmlformats.org/drawingml/2006/main">
            <a:srgbClr val="F7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lanner-accent">
            <a:extLst xmlns:a="http://schemas.openxmlformats.org/drawingml/2006/main">
              <a:ext uri="{FF2B5EF4-FFF2-40B4-BE49-F238E27FC236}">
                <a16:creationId xmlns:a16="http://schemas.microsoft.com/office/drawing/2014/main" id="{D58A5CA8-E634-4C57-BF2E-1D377166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57175"/>
            <a:ext cx="381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E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harness-accent">
            <a:extLst xmlns:a="http://schemas.openxmlformats.org/drawingml/2006/main">
              <a:ext uri="{FF2B5EF4-FFF2-40B4-BE49-F238E27FC236}">
                <a16:creationId xmlns:a16="http://schemas.microsoft.com/office/drawing/2014/main" id="{6836C24F-2E57-4934-B8B3-67C5464C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7175"/>
            <a:ext cx="381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E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nalyzer-accent">
            <a:extLst xmlns:a="http://schemas.openxmlformats.org/drawingml/2006/main">
              <a:ext uri="{FF2B5EF4-FFF2-40B4-BE49-F238E27FC236}">
                <a16:creationId xmlns:a16="http://schemas.microsoft.com/office/drawing/2014/main" id="{5DEDF7FD-EFA3-497B-8E2E-980ACF93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7175"/>
            <a:ext cx="381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5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lanner-heading">
            <a:extLst xmlns:a="http://schemas.openxmlformats.org/drawingml/2006/main">
              <a:ext uri="{FF2B5EF4-FFF2-40B4-BE49-F238E27FC236}">
                <a16:creationId xmlns:a16="http://schemas.microsoft.com/office/drawing/2014/main" id="{A16C8502-BBFD-452E-B123-764B0237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56EA6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356EA6"/>
                </a:solidFill>
                <a:latin typeface="Calibri"/>
                <a:ea typeface="Calibri"/>
                <a:cs typeface="Calibri"/>
              </a:rPr>
              <a:t>Research-assisted</a:t>
            </a:r>
          </a:p>
          <a:p xmlns:a="http://schemas.openxmlformats.org/drawingml/2006/main">
            <a:pPr algn="l">
              <a:defRPr sz="2100" b="1">
                <a:solidFill>
                  <a:srgbClr val="356EA6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356EA6"/>
                </a:solidFill>
                <a:latin typeface="Calibri"/>
                <a:ea typeface="Calibri"/>
                <a:cs typeface="Calibri"/>
              </a:rPr>
              <a:t>Planner</a:t>
            </a:r>
          </a:p>
        </p:txBody>
      </p:sp>
      <p:sp>
        <p:nvSpPr>
          <p:cNvPr id="8" name="harness-heading">
            <a:extLst xmlns:a="http://schemas.openxmlformats.org/drawingml/2006/main">
              <a:ext uri="{FF2B5EF4-FFF2-40B4-BE49-F238E27FC236}">
                <a16:creationId xmlns:a16="http://schemas.microsoft.com/office/drawing/2014/main" id="{75275240-69D1-4A53-9D11-BA2D7B28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5275"/>
            <a:ext cx="581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7E75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7E75"/>
                </a:solidFill>
                <a:latin typeface="Calibri"/>
                <a:ea typeface="Calibri"/>
                <a:cs typeface="Calibri"/>
              </a:rPr>
              <a:t>Builder + EvalScientist-Harness</a:t>
            </a:r>
          </a:p>
        </p:txBody>
      </p:sp>
      <p:sp>
        <p:nvSpPr>
          <p:cNvPr id="9" name="analyzer-heading">
            <a:extLst xmlns:a="http://schemas.openxmlformats.org/drawingml/2006/main">
              <a:ext uri="{FF2B5EF4-FFF2-40B4-BE49-F238E27FC236}">
                <a16:creationId xmlns:a16="http://schemas.microsoft.com/office/drawing/2014/main" id="{E68FB171-5288-4F19-97C1-32596063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81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54A2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7454A2"/>
                </a:solidFill>
                <a:latin typeface="Calibri"/>
                <a:ea typeface="Calibri"/>
                <a:cs typeface="Calibri"/>
              </a:rPr>
              <a:t>Hypothesis-driven</a:t>
            </a:r>
          </a:p>
          <a:p xmlns:a="http://schemas.openxmlformats.org/drawingml/2006/main">
            <a:pPr algn="l">
              <a:defRPr sz="2100" b="1">
                <a:solidFill>
                  <a:srgbClr val="7454A2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7454A2"/>
                </a:solidFill>
                <a:latin typeface="Calibri"/>
                <a:ea typeface="Calibri"/>
                <a:cs typeface="Calibri"/>
              </a:rPr>
              <a:t>Analyzer</a:t>
            </a:r>
          </a:p>
        </p:txBody>
      </p:sp>
      <p:sp>
        <p:nvSpPr>
          <p:cNvPr id="10" name="demand-to-planner">
            <a:extLst xmlns:a="http://schemas.openxmlformats.org/drawingml/2006/main">
              <a:ext uri="{FF2B5EF4-FFF2-40B4-BE49-F238E27FC236}">
                <a16:creationId xmlns:a16="http://schemas.microsoft.com/office/drawing/2014/main" id="{62DCB638-DEF5-4C7F-B4CF-4367BDAA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19250"/>
            <a:ext cx="9525" cy="533400"/>
          </a:xfrm>
          <a:custGeom xmlns:a="http://schemas.openxmlformats.org/drawingml/2006/main">
            <a:pathLst>
              <a:path w="9525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356EA6"/>
            </a:solidFill>
            <a:prstDash val="solid"/>
          </a:ln>
        </p:spPr>
      </p:sp>
      <p:sp>
        <p:nvSpPr>
          <p:cNvPr id="11" name="demand-to-planner-head">
            <a:extLst xmlns:a="http://schemas.openxmlformats.org/drawingml/2006/main">
              <a:ext uri="{FF2B5EF4-FFF2-40B4-BE49-F238E27FC236}">
                <a16:creationId xmlns:a16="http://schemas.microsoft.com/office/drawing/2014/main" id="{F6510820-5386-43FF-9F21-A1F44875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476375" y="20574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56E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lanner-to-plan">
            <a:extLst xmlns:a="http://schemas.openxmlformats.org/drawingml/2006/main">
              <a:ext uri="{FF2B5EF4-FFF2-40B4-BE49-F238E27FC236}">
                <a16:creationId xmlns:a16="http://schemas.microsoft.com/office/drawing/2014/main" id="{8058C7B0-60E1-4322-A7E6-CFB068B7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428750"/>
            <a:ext cx="857250" cy="1028700"/>
          </a:xfrm>
          <a:custGeom xmlns:a="http://schemas.openxmlformats.org/drawingml/2006/main">
            <a:pathLst>
              <a:path w="857250" h="1028700">
                <a:moveTo>
                  <a:pt x="0" y="1028700"/>
                </a:moveTo>
                <a:lnTo>
                  <a:pt x="428625" y="1028700"/>
                </a:lnTo>
                <a:lnTo>
                  <a:pt x="428625" y="0"/>
                </a:lnTo>
                <a:lnTo>
                  <a:pt x="85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356EA6"/>
            </a:solidFill>
            <a:prstDash val="solid"/>
          </a:ln>
        </p:spPr>
      </p:sp>
      <p:sp>
        <p:nvSpPr>
          <p:cNvPr id="13" name="planner-to-plan-head">
            <a:extLst xmlns:a="http://schemas.openxmlformats.org/drawingml/2006/main">
              <a:ext uri="{FF2B5EF4-FFF2-40B4-BE49-F238E27FC236}">
                <a16:creationId xmlns:a16="http://schemas.microsoft.com/office/drawing/2014/main" id="{197D9F53-03B6-4263-BA00-AF74BC64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390900" y="13811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56E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lan-to-builder">
            <a:extLst xmlns:a="http://schemas.openxmlformats.org/drawingml/2006/main">
              <a:ext uri="{FF2B5EF4-FFF2-40B4-BE49-F238E27FC236}">
                <a16:creationId xmlns:a16="http://schemas.microsoft.com/office/drawing/2014/main" id="{B7B6C0D5-4370-49CD-A61E-37A9BFEA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71650"/>
            <a:ext cx="9525" cy="381000"/>
          </a:xfrm>
          <a:custGeom xmlns:a="http://schemas.openxmlformats.org/drawingml/2006/main"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87E75"/>
            </a:solidFill>
            <a:prstDash val="solid"/>
          </a:ln>
        </p:spPr>
      </p:sp>
      <p:sp>
        <p:nvSpPr>
          <p:cNvPr id="15" name="plan-to-builder-head">
            <a:extLst xmlns:a="http://schemas.openxmlformats.org/drawingml/2006/main">
              <a:ext uri="{FF2B5EF4-FFF2-40B4-BE49-F238E27FC236}">
                <a16:creationId xmlns:a16="http://schemas.microsoft.com/office/drawing/2014/main" id="{F36B4030-1F82-42F2-8E19-93327F6E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200525" y="20574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87E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ilder-to-spec">
            <a:extLst xmlns:a="http://schemas.openxmlformats.org/drawingml/2006/main">
              <a:ext uri="{FF2B5EF4-FFF2-40B4-BE49-F238E27FC236}">
                <a16:creationId xmlns:a16="http://schemas.microsoft.com/office/drawing/2014/main" id="{18604C29-4F6D-4977-BD62-92DE9C3F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57450"/>
            <a:ext cx="457200" cy="9525"/>
          </a:xfrm>
          <a:custGeom xmlns:a="http://schemas.openxmlformats.org/drawingml/2006/main">
            <a:pathLst>
              <a:path w="457200" h="952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87E75"/>
            </a:solidFill>
            <a:prstDash val="solid"/>
          </a:ln>
        </p:spPr>
      </p:sp>
      <p:sp>
        <p:nvSpPr>
          <p:cNvPr id="17" name="builder-to-spec-head">
            <a:extLst xmlns:a="http://schemas.openxmlformats.org/drawingml/2006/main">
              <a:ext uri="{FF2B5EF4-FFF2-40B4-BE49-F238E27FC236}">
                <a16:creationId xmlns:a16="http://schemas.microsoft.com/office/drawing/2014/main" id="{838FE4EF-B442-4354-AB9A-ACF26820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72100" y="24098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87E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search-query">
            <a:extLst xmlns:a="http://schemas.openxmlformats.org/drawingml/2006/main">
              <a:ext uri="{FF2B5EF4-FFF2-40B4-BE49-F238E27FC236}">
                <a16:creationId xmlns:a16="http://schemas.microsoft.com/office/drawing/2014/main" id="{915A7AA6-D24F-42A2-972D-1935F883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9525" cy="1181100"/>
          </a:xfrm>
          <a:custGeom xmlns:a="http://schemas.openxmlformats.org/drawingml/2006/main">
            <a:pathLst>
              <a:path w="9525"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356EA6"/>
            </a:solidFill>
            <a:prstDash val="solid"/>
          </a:ln>
        </p:spPr>
      </p:sp>
      <p:sp>
        <p:nvSpPr>
          <p:cNvPr id="19" name="research-query-head">
            <a:extLst xmlns:a="http://schemas.openxmlformats.org/drawingml/2006/main">
              <a:ext uri="{FF2B5EF4-FFF2-40B4-BE49-F238E27FC236}">
                <a16:creationId xmlns:a16="http://schemas.microsoft.com/office/drawing/2014/main" id="{D3402ADF-E044-4606-A0EE-8A39A534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62025" y="38481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56E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esearch-findings">
            <a:extLst xmlns:a="http://schemas.openxmlformats.org/drawingml/2006/main">
              <a:ext uri="{FF2B5EF4-FFF2-40B4-BE49-F238E27FC236}">
                <a16:creationId xmlns:a16="http://schemas.microsoft.com/office/drawing/2014/main" id="{34331162-A9D4-4BFA-A747-349CB5BC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762250"/>
            <a:ext cx="9525" cy="1181100"/>
          </a:xfrm>
          <a:custGeom xmlns:a="http://schemas.openxmlformats.org/drawingml/2006/main">
            <a:pathLst>
              <a:path w="9525" h="1181100">
                <a:moveTo>
                  <a:pt x="0" y="11811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356EA6"/>
            </a:solidFill>
            <a:prstDash val="solid"/>
          </a:ln>
        </p:spPr>
      </p:sp>
      <p:sp>
        <p:nvSpPr>
          <p:cNvPr id="21" name="research-findings-head">
            <a:extLst xmlns:a="http://schemas.openxmlformats.org/drawingml/2006/main">
              <a:ext uri="{FF2B5EF4-FFF2-40B4-BE49-F238E27FC236}">
                <a16:creationId xmlns:a16="http://schemas.microsoft.com/office/drawing/2014/main" id="{47AB4C67-1C84-4D06-A581-5C04DB5F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2150" y="27622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56E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sources-to-builder">
            <a:extLst xmlns:a="http://schemas.openxmlformats.org/drawingml/2006/main">
              <a:ext uri="{FF2B5EF4-FFF2-40B4-BE49-F238E27FC236}">
                <a16:creationId xmlns:a16="http://schemas.microsoft.com/office/drawing/2014/main" id="{E75B1D68-F5B0-4698-936E-509D2D6D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62250"/>
            <a:ext cx="9525" cy="1371600"/>
          </a:xfrm>
          <a:custGeom xmlns:a="http://schemas.openxmlformats.org/drawingml/2006/main">
            <a:pathLst>
              <a:path w="9525" h="1371600">
                <a:moveTo>
                  <a:pt x="0" y="13716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87E75"/>
            </a:solidFill>
            <a:prstDash val="dash"/>
          </a:ln>
        </p:spPr>
      </p:sp>
      <p:sp>
        <p:nvSpPr>
          <p:cNvPr id="23" name="resources-to-builder-head">
            <a:extLst xmlns:a="http://schemas.openxmlformats.org/drawingml/2006/main">
              <a:ext uri="{FF2B5EF4-FFF2-40B4-BE49-F238E27FC236}">
                <a16:creationId xmlns:a16="http://schemas.microsoft.com/office/drawing/2014/main" id="{CBA3E1D9-D8F7-45EF-A39A-2EF30E25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0525" y="27622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87E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research-resources">
            <a:extLst xmlns:a="http://schemas.openxmlformats.org/drawingml/2006/main">
              <a:ext uri="{FF2B5EF4-FFF2-40B4-BE49-F238E27FC236}">
                <a16:creationId xmlns:a16="http://schemas.microsoft.com/office/drawing/2014/main" id="{8C06033E-33AF-4D16-9501-4D9906A1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38700"/>
            <a:ext cx="762000" cy="9525"/>
          </a:xfrm>
          <a:custGeom xmlns:a="http://schemas.openxmlformats.org/drawingml/2006/main"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356EA6"/>
            </a:solidFill>
            <a:prstDash val="solid"/>
          </a:ln>
        </p:spPr>
      </p:sp>
      <p:sp>
        <p:nvSpPr>
          <p:cNvPr id="25" name="research-resources-head">
            <a:extLst xmlns:a="http://schemas.openxmlformats.org/drawingml/2006/main">
              <a:ext uri="{FF2B5EF4-FFF2-40B4-BE49-F238E27FC236}">
                <a16:creationId xmlns:a16="http://schemas.microsoft.com/office/drawing/2014/main" id="{9EAF6F0E-82F4-4862-929E-C8676E60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390900" y="47910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56E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pec-to-quality">
            <a:extLst xmlns:a="http://schemas.openxmlformats.org/drawingml/2006/main">
              <a:ext uri="{FF2B5EF4-FFF2-40B4-BE49-F238E27FC236}">
                <a16:creationId xmlns:a16="http://schemas.microsoft.com/office/drawing/2014/main" id="{D81E7269-5875-4EF9-8542-7DA8E82D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3350"/>
            <a:ext cx="9525" cy="304800"/>
          </a:xfrm>
          <a:custGeom xmlns:a="http://schemas.openxmlformats.org/drawingml/2006/main"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87E75"/>
            </a:solidFill>
            <a:prstDash val="solid"/>
          </a:ln>
        </p:spPr>
      </p:sp>
      <p:sp>
        <p:nvSpPr>
          <p:cNvPr id="27" name="spec-to-quality-head">
            <a:extLst xmlns:a="http://schemas.openxmlformats.org/drawingml/2006/main">
              <a:ext uri="{FF2B5EF4-FFF2-40B4-BE49-F238E27FC236}">
                <a16:creationId xmlns:a16="http://schemas.microsoft.com/office/drawing/2014/main" id="{33796296-2D20-4B52-9A6C-4FCB5B4F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143625" y="41529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87E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uilder-revision-return">
            <a:extLst xmlns:a="http://schemas.openxmlformats.org/drawingml/2006/main">
              <a:ext uri="{FF2B5EF4-FFF2-40B4-BE49-F238E27FC236}">
                <a16:creationId xmlns:a16="http://schemas.microsoft.com/office/drawing/2014/main" id="{18474EF4-2633-4A5C-894A-13D0A7DB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05100"/>
            <a:ext cx="228600" cy="2819400"/>
          </a:xfrm>
          <a:custGeom xmlns:a="http://schemas.openxmlformats.org/drawingml/2006/main">
            <a:pathLst>
              <a:path w="228600" h="2819400">
                <a:moveTo>
                  <a:pt x="228600" y="2819400"/>
                </a:moveTo>
                <a:lnTo>
                  <a:pt x="228600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556575"/>
            </a:solidFill>
            <a:prstDash val="dash"/>
          </a:ln>
        </p:spPr>
      </p:sp>
      <p:sp>
        <p:nvSpPr>
          <p:cNvPr id="29" name="builder-revision-return-head">
            <a:extLst xmlns:a="http://schemas.openxmlformats.org/drawingml/2006/main">
              <a:ext uri="{FF2B5EF4-FFF2-40B4-BE49-F238E27FC236}">
                <a16:creationId xmlns:a16="http://schemas.microsoft.com/office/drawing/2014/main" id="{520D8FBC-AE64-4229-8BB1-8CC3C4FD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010150" y="26574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565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qc-failure">
            <a:extLst xmlns:a="http://schemas.openxmlformats.org/drawingml/2006/main">
              <a:ext uri="{FF2B5EF4-FFF2-40B4-BE49-F238E27FC236}">
                <a16:creationId xmlns:a16="http://schemas.microsoft.com/office/drawing/2014/main" id="{C0D25D41-27C1-4A6A-B1FB-1D99313E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91050"/>
            <a:ext cx="228600" cy="9525"/>
          </a:xfrm>
          <a:custGeom xmlns:a="http://schemas.openxmlformats.org/drawingml/2006/main">
            <a:pathLst>
              <a:path w="228600" h="9525">
                <a:moveTo>
                  <a:pt x="2286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AD5948"/>
            </a:solidFill>
            <a:prstDash val="dash"/>
          </a:ln>
        </p:spPr>
      </p:sp>
      <p:sp>
        <p:nvSpPr>
          <p:cNvPr id="31" name="revision-junction">
            <a:extLst xmlns:a="http://schemas.openxmlformats.org/drawingml/2006/main">
              <a:ext uri="{FF2B5EF4-FFF2-40B4-BE49-F238E27FC236}">
                <a16:creationId xmlns:a16="http://schemas.microsoft.com/office/drawing/2014/main" id="{E4C82FD9-DCC7-47B9-BFAF-E6CDAA18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5624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65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qc-to-evaluation">
            <a:extLst xmlns:a="http://schemas.openxmlformats.org/drawingml/2006/main">
              <a:ext uri="{FF2B5EF4-FFF2-40B4-BE49-F238E27FC236}">
                <a16:creationId xmlns:a16="http://schemas.microsoft.com/office/drawing/2014/main" id="{30DF5383-A45F-497F-B739-CC90670A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91050"/>
            <a:ext cx="1276350" cy="9525"/>
          </a:xfrm>
          <a:custGeom xmlns:a="http://schemas.openxmlformats.org/drawingml/2006/main">
            <a:pathLst>
              <a:path w="1276350" h="9525">
                <a:moveTo>
                  <a:pt x="0" y="0"/>
                </a:moveTo>
                <a:lnTo>
                  <a:pt x="1276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87E75"/>
            </a:solidFill>
            <a:prstDash val="solid"/>
          </a:ln>
        </p:spPr>
      </p:sp>
      <p:sp>
        <p:nvSpPr>
          <p:cNvPr id="33" name="qc-to-evaluation-head">
            <a:extLst xmlns:a="http://schemas.openxmlformats.org/drawingml/2006/main">
              <a:ext uri="{FF2B5EF4-FFF2-40B4-BE49-F238E27FC236}">
                <a16:creationId xmlns:a16="http://schemas.microsoft.com/office/drawing/2014/main" id="{10129EA8-E426-4E21-81A3-C1FA0ED2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020050" y="45434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87E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qc-passed-followup-review">
            <a:extLst xmlns:a="http://schemas.openxmlformats.org/drawingml/2006/main">
              <a:ext uri="{FF2B5EF4-FFF2-40B4-BE49-F238E27FC236}">
                <a16:creationId xmlns:a16="http://schemas.microsoft.com/office/drawing/2014/main" id="{8B8701E3-0AF8-423A-8078-308FCF59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33950"/>
            <a:ext cx="609600" cy="285750"/>
          </a:xfrm>
          <a:custGeom xmlns:a="http://schemas.openxmlformats.org/drawingml/2006/main">
            <a:pathLst>
              <a:path w="609600" h="285750">
                <a:moveTo>
                  <a:pt x="0" y="0"/>
                </a:moveTo>
                <a:lnTo>
                  <a:pt x="60960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7454A2"/>
            </a:solidFill>
            <a:prstDash val="solid"/>
          </a:ln>
        </p:spPr>
      </p:sp>
      <p:sp>
        <p:nvSpPr>
          <p:cNvPr id="35" name="qc-passed-followup-review-head">
            <a:extLst xmlns:a="http://schemas.openxmlformats.org/drawingml/2006/main">
              <a:ext uri="{FF2B5EF4-FFF2-40B4-BE49-F238E27FC236}">
                <a16:creationId xmlns:a16="http://schemas.microsoft.com/office/drawing/2014/main" id="{31FF878C-2BDC-4F53-98C8-B6ED1CE6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06890">
            <a:off x="7091103" y="5151861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45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review-accepted-to-evaluation">
            <a:extLst xmlns:a="http://schemas.openxmlformats.org/drawingml/2006/main">
              <a:ext uri="{FF2B5EF4-FFF2-40B4-BE49-F238E27FC236}">
                <a16:creationId xmlns:a16="http://schemas.microsoft.com/office/drawing/2014/main" id="{93CFE369-11C3-49AA-AB97-44C2C618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33950"/>
            <a:ext cx="485775" cy="285750"/>
          </a:xfrm>
          <a:custGeom xmlns:a="http://schemas.openxmlformats.org/drawingml/2006/main">
            <a:pathLst>
              <a:path w="485775" h="285750">
                <a:moveTo>
                  <a:pt x="0" y="28575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7454A2"/>
            </a:solidFill>
            <a:prstDash val="solid"/>
          </a:ln>
        </p:spPr>
      </p:sp>
      <p:sp>
        <p:nvSpPr>
          <p:cNvPr id="37" name="review-accepted-to-evaluation-head">
            <a:extLst xmlns:a="http://schemas.openxmlformats.org/drawingml/2006/main">
              <a:ext uri="{FF2B5EF4-FFF2-40B4-BE49-F238E27FC236}">
                <a16:creationId xmlns:a16="http://schemas.microsoft.com/office/drawing/2014/main" id="{123EE058-3D1D-4825-B417-D3173DFB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572067">
            <a:off x="8741000" y="4910472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45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fine-grained-review-requests">
            <a:extLst xmlns:a="http://schemas.openxmlformats.org/drawingml/2006/main">
              <a:ext uri="{FF2B5EF4-FFF2-40B4-BE49-F238E27FC236}">
                <a16:creationId xmlns:a16="http://schemas.microsoft.com/office/drawing/2014/main" id="{C7909BDB-7EFC-4822-8A20-1702A85A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524500"/>
            <a:ext cx="1714500" cy="9525"/>
          </a:xfrm>
          <a:custGeom xmlns:a="http://schemas.openxmlformats.org/drawingml/2006/main">
            <a:pathLst>
              <a:path w="1714500" h="9525">
                <a:moveTo>
                  <a:pt x="17145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7454A2"/>
            </a:solidFill>
            <a:prstDash val="dash"/>
          </a:ln>
        </p:spPr>
      </p:sp>
      <p:sp>
        <p:nvSpPr>
          <p:cNvPr id="39" name="run-to-evidence">
            <a:extLst xmlns:a="http://schemas.openxmlformats.org/drawingml/2006/main">
              <a:ext uri="{FF2B5EF4-FFF2-40B4-BE49-F238E27FC236}">
                <a16:creationId xmlns:a16="http://schemas.microsoft.com/office/drawing/2014/main" id="{F9A3B5F8-A102-46FE-81EF-21E53C23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457325"/>
            <a:ext cx="638175" cy="3133725"/>
          </a:xfrm>
          <a:custGeom xmlns:a="http://schemas.openxmlformats.org/drawingml/2006/main">
            <a:pathLst>
              <a:path w="638175" h="3133725">
                <a:moveTo>
                  <a:pt x="0" y="3133725"/>
                </a:moveTo>
                <a:lnTo>
                  <a:pt x="190500" y="3133725"/>
                </a:lnTo>
                <a:lnTo>
                  <a:pt x="190500" y="0"/>
                </a:lnTo>
                <a:lnTo>
                  <a:pt x="638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87E75"/>
            </a:solidFill>
            <a:prstDash val="solid"/>
          </a:ln>
        </p:spPr>
      </p:sp>
      <p:sp>
        <p:nvSpPr>
          <p:cNvPr id="40" name="run-to-evidence-head">
            <a:extLst xmlns:a="http://schemas.openxmlformats.org/drawingml/2006/main">
              <a:ext uri="{FF2B5EF4-FFF2-40B4-BE49-F238E27FC236}">
                <a16:creationId xmlns:a16="http://schemas.microsoft.com/office/drawing/2014/main" id="{7BD834E2-2211-4872-A5A0-50675A25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086975" y="14097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87E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evidence-to-analyzer">
            <a:extLst xmlns:a="http://schemas.openxmlformats.org/drawingml/2006/main">
              <a:ext uri="{FF2B5EF4-FFF2-40B4-BE49-F238E27FC236}">
                <a16:creationId xmlns:a16="http://schemas.microsoft.com/office/drawing/2014/main" id="{DBE35524-8DB5-42A7-82E8-DDE73F8B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1866900"/>
            <a:ext cx="9525" cy="314325"/>
          </a:xfrm>
          <a:custGeom xmlns:a="http://schemas.openxmlformats.org/drawingml/2006/main">
            <a:pathLst>
              <a:path w="9525" h="314325">
                <a:moveTo>
                  <a:pt x="0" y="0"/>
                </a:moveTo>
                <a:lnTo>
                  <a:pt x="0" y="314325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7454A2"/>
            </a:solidFill>
            <a:prstDash val="solid"/>
          </a:ln>
        </p:spPr>
      </p:sp>
      <p:sp>
        <p:nvSpPr>
          <p:cNvPr id="42" name="evidence-to-analyzer-head">
            <a:extLst xmlns:a="http://schemas.openxmlformats.org/drawingml/2006/main">
              <a:ext uri="{FF2B5EF4-FFF2-40B4-BE49-F238E27FC236}">
                <a16:creationId xmlns:a16="http://schemas.microsoft.com/office/drawing/2014/main" id="{F4580A9A-9A2C-44B7-9A81-1934DD7B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1687175" y="20859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45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analyzer-to-hypotheses">
            <a:extLst xmlns:a="http://schemas.openxmlformats.org/drawingml/2006/main">
              <a:ext uri="{FF2B5EF4-FFF2-40B4-BE49-F238E27FC236}">
                <a16:creationId xmlns:a16="http://schemas.microsoft.com/office/drawing/2014/main" id="{8AB91812-09D7-4A54-B869-20B1F116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2733675"/>
            <a:ext cx="9525" cy="390525"/>
          </a:xfrm>
          <a:custGeom xmlns:a="http://schemas.openxmlformats.org/drawingml/2006/main">
            <a:pathLst>
              <a:path w="9525" h="390525">
                <a:moveTo>
                  <a:pt x="0" y="0"/>
                </a:moveTo>
                <a:lnTo>
                  <a:pt x="0" y="390525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7454A2"/>
            </a:solidFill>
            <a:prstDash val="solid"/>
          </a:ln>
        </p:spPr>
      </p:sp>
      <p:sp>
        <p:nvSpPr>
          <p:cNvPr id="44" name="analyzer-to-hypotheses-head">
            <a:extLst xmlns:a="http://schemas.openxmlformats.org/drawingml/2006/main">
              <a:ext uri="{FF2B5EF4-FFF2-40B4-BE49-F238E27FC236}">
                <a16:creationId xmlns:a16="http://schemas.microsoft.com/office/drawing/2014/main" id="{FB54076A-2935-469E-BCBC-7CE695FF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1687175" y="30289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45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hypotheses-to-followup">
            <a:extLst xmlns:a="http://schemas.openxmlformats.org/drawingml/2006/main">
              <a:ext uri="{FF2B5EF4-FFF2-40B4-BE49-F238E27FC236}">
                <a16:creationId xmlns:a16="http://schemas.microsoft.com/office/drawing/2014/main" id="{817EB7F1-483F-4A8B-912B-04231EE4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3752850"/>
            <a:ext cx="9525" cy="571500"/>
          </a:xfrm>
          <a:custGeom xmlns:a="http://schemas.openxmlformats.org/drawingml/2006/main">
            <a:pathLst>
              <a:path w="9525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7454A2"/>
            </a:solidFill>
            <a:prstDash val="solid"/>
          </a:ln>
        </p:spPr>
      </p:sp>
      <p:sp>
        <p:nvSpPr>
          <p:cNvPr id="46" name="hypotheses-to-followup-head">
            <a:extLst xmlns:a="http://schemas.openxmlformats.org/drawingml/2006/main">
              <a:ext uri="{FF2B5EF4-FFF2-40B4-BE49-F238E27FC236}">
                <a16:creationId xmlns:a16="http://schemas.microsoft.com/office/drawing/2014/main" id="{5F480964-C77F-438B-91F9-276011B6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972800" y="42291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45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hypotheses-to-report">
            <a:extLst xmlns:a="http://schemas.openxmlformats.org/drawingml/2006/main">
              <a:ext uri="{FF2B5EF4-FFF2-40B4-BE49-F238E27FC236}">
                <a16:creationId xmlns:a16="http://schemas.microsoft.com/office/drawing/2014/main" id="{AE7C1968-DC49-44E1-A885-469197C8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3475" y="3752850"/>
            <a:ext cx="9525" cy="571500"/>
          </a:xfrm>
          <a:custGeom xmlns:a="http://schemas.openxmlformats.org/drawingml/2006/main">
            <a:pathLst>
              <a:path w="9525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7454A2"/>
            </a:solidFill>
            <a:prstDash val="solid"/>
          </a:ln>
        </p:spPr>
      </p:sp>
      <p:sp>
        <p:nvSpPr>
          <p:cNvPr id="48" name="hypotheses-to-report-head">
            <a:extLst xmlns:a="http://schemas.openxmlformats.org/drawingml/2006/main">
              <a:ext uri="{FF2B5EF4-FFF2-40B4-BE49-F238E27FC236}">
                <a16:creationId xmlns:a16="http://schemas.microsoft.com/office/drawing/2014/main" id="{82AB54AD-9E89-4C2C-9C40-014CB016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2515850" y="42291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45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followup-demand-to-review">
            <a:extLst xmlns:a="http://schemas.openxmlformats.org/drawingml/2006/main">
              <a:ext uri="{FF2B5EF4-FFF2-40B4-BE49-F238E27FC236}">
                <a16:creationId xmlns:a16="http://schemas.microsoft.com/office/drawing/2014/main" id="{EFEA8F38-5086-443C-83F4-91CD4C5D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24450"/>
            <a:ext cx="2371725" cy="400050"/>
          </a:xfrm>
          <a:custGeom xmlns:a="http://schemas.openxmlformats.org/drawingml/2006/main">
            <a:pathLst>
              <a:path w="2371725" h="400050">
                <a:moveTo>
                  <a:pt x="2371725" y="0"/>
                </a:moveTo>
                <a:lnTo>
                  <a:pt x="2371725" y="400050"/>
                </a:lnTo>
                <a:lnTo>
                  <a:pt x="0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7454A2"/>
            </a:solidFill>
            <a:prstDash val="dash"/>
          </a:ln>
        </p:spPr>
      </p:sp>
      <p:sp>
        <p:nvSpPr>
          <p:cNvPr id="50" name="followup-demand-to-review-head">
            <a:extLst xmlns:a="http://schemas.openxmlformats.org/drawingml/2006/main">
              <a:ext uri="{FF2B5EF4-FFF2-40B4-BE49-F238E27FC236}">
                <a16:creationId xmlns:a16="http://schemas.microsoft.com/office/drawing/2014/main" id="{C53397C8-1A23-4FD9-A36A-DF381B52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8572500" y="54768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45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ollowup-to-evaluation-demand">
            <a:extLst xmlns:a="http://schemas.openxmlformats.org/drawingml/2006/main">
              <a:ext uri="{FF2B5EF4-FFF2-40B4-BE49-F238E27FC236}">
                <a16:creationId xmlns:a16="http://schemas.microsoft.com/office/drawing/2014/main" id="{684B2622-CB8C-4FC2-9370-2914AD72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1362075"/>
            <a:ext cx="10744200" cy="4981575"/>
          </a:xfrm>
          <a:custGeom xmlns:a="http://schemas.openxmlformats.org/drawingml/2006/main">
            <a:pathLst>
              <a:path w="10744200" h="4981575">
                <a:moveTo>
                  <a:pt x="10744200" y="3762375"/>
                </a:moveTo>
                <a:lnTo>
                  <a:pt x="10744200" y="4981575"/>
                </a:lnTo>
                <a:lnTo>
                  <a:pt x="0" y="4981575"/>
                </a:lnTo>
                <a:lnTo>
                  <a:pt x="0" y="0"/>
                </a:ln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7454A2"/>
            </a:solidFill>
            <a:prstDash val="dash"/>
          </a:ln>
        </p:spPr>
      </p:sp>
      <p:sp>
        <p:nvSpPr>
          <p:cNvPr id="52" name="followup-to-evaluation-demand-head">
            <a:extLst xmlns:a="http://schemas.openxmlformats.org/drawingml/2006/main">
              <a:ext uri="{FF2B5EF4-FFF2-40B4-BE49-F238E27FC236}">
                <a16:creationId xmlns:a16="http://schemas.microsoft.com/office/drawing/2014/main" id="{A210DB99-C8DD-4942-BF1C-CFD9A2B7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23850" y="13144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45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demand">
            <a:extLst xmlns:a="http://schemas.openxmlformats.org/drawingml/2006/main">
              <a:ext uri="{FF2B5EF4-FFF2-40B4-BE49-F238E27FC236}">
                <a16:creationId xmlns:a16="http://schemas.microsoft.com/office/drawing/2014/main" id="{30872599-93A5-4910-AAE0-4746ECAE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2209800" cy="5143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CD6DF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4334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43341"/>
                </a:solidFill>
                <a:latin typeface="Calibri"/>
                <a:ea typeface="Calibri"/>
                <a:cs typeface="Calibri"/>
              </a:rPr>
              <a:t>Evaluation demand</a:t>
            </a:r>
          </a:p>
        </p:txBody>
      </p:sp>
      <p:sp>
        <p:nvSpPr>
          <p:cNvPr id="54" name="planner">
            <a:extLst xmlns:a="http://schemas.openxmlformats.org/drawingml/2006/main">
              <a:ext uri="{FF2B5EF4-FFF2-40B4-BE49-F238E27FC236}">
                <a16:creationId xmlns:a16="http://schemas.microsoft.com/office/drawing/2014/main" id="{779A6DE9-35CE-4D16-A231-F3A098E5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52650"/>
            <a:ext cx="2209800" cy="6096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E5EFF9"/>
          </a:solidFill>
          <a:ln xmlns:a="http://schemas.openxmlformats.org/drawingml/2006/main" w="15240">
            <a:solidFill>
              <a:srgbClr val="356EA6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56EA6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356EA6"/>
                </a:solidFill>
                <a:latin typeface="Calibri"/>
                <a:ea typeface="Calibri"/>
                <a:cs typeface="Calibri"/>
              </a:rPr>
              <a:t>Planner</a:t>
            </a:r>
          </a:p>
        </p:txBody>
      </p:sp>
      <p:sp>
        <p:nvSpPr>
          <p:cNvPr id="55" name="query-label-bg">
            <a:extLst xmlns:a="http://schemas.openxmlformats.org/drawingml/2006/main">
              <a:ext uri="{FF2B5EF4-FFF2-40B4-BE49-F238E27FC236}">
                <a16:creationId xmlns:a16="http://schemas.microsoft.com/office/drawing/2014/main" id="{8D12A3FA-1AC2-4C62-A484-54F9B0A6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67075"/>
            <a:ext cx="1028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query-label">
            <a:extLst xmlns:a="http://schemas.openxmlformats.org/drawingml/2006/main">
              <a:ext uri="{FF2B5EF4-FFF2-40B4-BE49-F238E27FC236}">
                <a16:creationId xmlns:a16="http://schemas.microsoft.com/office/drawing/2014/main" id="{AC95D61F-0A5F-4A62-A8B7-176E6C6F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67075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356EA6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56EA6"/>
                </a:solidFill>
                <a:latin typeface="Calibri"/>
                <a:ea typeface="Calibri"/>
                <a:cs typeface="Calibri"/>
              </a:rPr>
              <a:t>Queries</a:t>
            </a:r>
          </a:p>
        </p:txBody>
      </p:sp>
      <p:sp>
        <p:nvSpPr>
          <p:cNvPr id="57" name="findings-label-bg">
            <a:extLst xmlns:a="http://schemas.openxmlformats.org/drawingml/2006/main">
              <a:ext uri="{FF2B5EF4-FFF2-40B4-BE49-F238E27FC236}">
                <a16:creationId xmlns:a16="http://schemas.microsoft.com/office/drawing/2014/main" id="{F6EB2EDC-2DBE-465C-8763-4D30BA06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71800"/>
            <a:ext cx="1247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findings-label">
            <a:extLst xmlns:a="http://schemas.openxmlformats.org/drawingml/2006/main">
              <a:ext uri="{FF2B5EF4-FFF2-40B4-BE49-F238E27FC236}">
                <a16:creationId xmlns:a16="http://schemas.microsoft.com/office/drawing/2014/main" id="{D0F5AD86-0BEA-40BA-B92F-D878E298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71800"/>
            <a:ext cx="1247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356EA6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56EA6"/>
                </a:solidFill>
                <a:latin typeface="Calibri"/>
                <a:ea typeface="Calibri"/>
                <a:cs typeface="Calibri"/>
              </a:rPr>
              <a:t>Answer</a:t>
            </a:r>
          </a:p>
        </p:txBody>
      </p:sp>
      <p:sp>
        <p:nvSpPr>
          <p:cNvPr id="59" name="research">
            <a:extLst xmlns:a="http://schemas.openxmlformats.org/drawingml/2006/main">
              <a:ext uri="{FF2B5EF4-FFF2-40B4-BE49-F238E27FC236}">
                <a16:creationId xmlns:a16="http://schemas.microsoft.com/office/drawing/2014/main" id="{D527AFEF-9F50-414B-A225-58FF6297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943350"/>
            <a:ext cx="2400300" cy="571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56EA6"/>
            </a:solidFill>
            <a:prstDash val="solid"/>
          </a:ln>
        </p:spPr>
      </p:sp>
      <p:sp>
        <p:nvSpPr>
          <p:cNvPr id="60" name="research-label">
            <a:extLst xmlns:a="http://schemas.openxmlformats.org/drawingml/2006/main">
              <a:ext uri="{FF2B5EF4-FFF2-40B4-BE49-F238E27FC236}">
                <a16:creationId xmlns:a16="http://schemas.microsoft.com/office/drawing/2014/main" id="{41B513F1-CA8F-4A8E-8924-80B07FAF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00500"/>
            <a:ext cx="1914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56EA6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356EA6"/>
                </a:solidFill>
                <a:latin typeface="Calibri"/>
                <a:ea typeface="Calibri"/>
                <a:cs typeface="Calibri"/>
              </a:rPr>
              <a:t>Research backend</a:t>
            </a:r>
          </a:p>
        </p:txBody>
      </p:sp>
      <p:sp>
        <p:nvSpPr>
          <p:cNvPr id="61" name="sources">
            <a:extLst xmlns:a="http://schemas.openxmlformats.org/drawingml/2006/main">
              <a:ext uri="{FF2B5EF4-FFF2-40B4-BE49-F238E27FC236}">
                <a16:creationId xmlns:a16="http://schemas.microsoft.com/office/drawing/2014/main" id="{EDA10FB2-55BA-4C98-AED9-254BC1AD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91050"/>
            <a:ext cx="2400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5657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56575"/>
                </a:solidFill>
                <a:latin typeface="Calibri"/>
                <a:ea typeface="Calibri"/>
                <a:cs typeface="Calibri"/>
              </a:rPr>
              <a:t>Documents / data</a:t>
            </a:r>
          </a:p>
          <a:p xmlns:a="http://schemas.openxmlformats.org/drawingml/2006/main">
            <a:pPr algn="ctr">
              <a:defRPr sz="1950" b="0">
                <a:solidFill>
                  <a:srgbClr val="55657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56575"/>
                </a:solidFill>
                <a:latin typeface="Calibri"/>
                <a:ea typeface="Calibri"/>
                <a:cs typeface="Calibri"/>
              </a:rPr>
              <a:t>Software / artifacts</a:t>
            </a:r>
          </a:p>
        </p:txBody>
      </p:sp>
      <p:sp>
        <p:nvSpPr>
          <p:cNvPr id="62" name="research-note-bg">
            <a:extLst xmlns:a="http://schemas.openxmlformats.org/drawingml/2006/main">
              <a:ext uri="{FF2B5EF4-FFF2-40B4-BE49-F238E27FC236}">
                <a16:creationId xmlns:a16="http://schemas.microsoft.com/office/drawing/2014/main" id="{C3E9ECE5-73A4-4C74-8CC6-6D78AC79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295650"/>
            <a:ext cx="1381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research-note">
            <a:extLst xmlns:a="http://schemas.openxmlformats.org/drawingml/2006/main">
              <a:ext uri="{FF2B5EF4-FFF2-40B4-BE49-F238E27FC236}">
                <a16:creationId xmlns:a16="http://schemas.microsoft.com/office/drawing/2014/main" id="{43B7E729-413D-4B21-9199-C0CA7319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295650"/>
            <a:ext cx="1381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356EA6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56EA6"/>
                </a:solidFill>
                <a:latin typeface="Calibri"/>
                <a:ea typeface="Calibri"/>
                <a:cs typeface="Calibri"/>
              </a:rPr>
              <a:t>Informs task</a:t>
            </a:r>
          </a:p>
          <a:p xmlns:a="http://schemas.openxmlformats.org/drawingml/2006/main">
            <a:pPr algn="ctr">
              <a:defRPr sz="1950" b="0">
                <a:solidFill>
                  <a:srgbClr val="356EA6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56EA6"/>
                </a:solidFill>
                <a:latin typeface="Calibri"/>
                <a:ea typeface="Calibri"/>
                <a:cs typeface="Calibri"/>
              </a:rPr>
              <a:t>design</a:t>
            </a:r>
          </a:p>
        </p:txBody>
      </p:sp>
      <p:sp>
        <p:nvSpPr>
          <p:cNvPr id="64" name="plan">
            <a:extLst xmlns:a="http://schemas.openxmlformats.org/drawingml/2006/main">
              <a:ext uri="{FF2B5EF4-FFF2-40B4-BE49-F238E27FC236}">
                <a16:creationId xmlns:a16="http://schemas.microsoft.com/office/drawing/2014/main" id="{89497777-536B-43F6-8C5B-6B2519DF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104900"/>
            <a:ext cx="1524000" cy="6667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87E75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7E75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87E75"/>
                </a:solidFill>
                <a:latin typeface="Calibri"/>
                <a:ea typeface="Calibri"/>
                <a:cs typeface="Calibri"/>
              </a:rPr>
              <a:t>Task plan</a:t>
            </a:r>
          </a:p>
        </p:txBody>
      </p:sp>
      <p:sp>
        <p:nvSpPr>
          <p:cNvPr id="65" name="builder">
            <a:extLst xmlns:a="http://schemas.openxmlformats.org/drawingml/2006/main">
              <a:ext uri="{FF2B5EF4-FFF2-40B4-BE49-F238E27FC236}">
                <a16:creationId xmlns:a16="http://schemas.microsoft.com/office/drawing/2014/main" id="{F926DF0D-2998-4355-AF1D-0F23EF80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52650"/>
            <a:ext cx="1524000" cy="6096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E0F1EC"/>
          </a:solidFill>
          <a:ln xmlns:a="http://schemas.openxmlformats.org/drawingml/2006/main" w="15240">
            <a:solidFill>
              <a:srgbClr val="187E75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87E75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187E75"/>
                </a:solidFill>
                <a:latin typeface="Calibri"/>
                <a:ea typeface="Calibri"/>
                <a:cs typeface="Calibri"/>
              </a:rPr>
              <a:t>Builder</a:t>
            </a:r>
          </a:p>
        </p:txBody>
      </p:sp>
      <p:sp>
        <p:nvSpPr>
          <p:cNvPr id="66" name="resources">
            <a:extLst xmlns:a="http://schemas.openxmlformats.org/drawingml/2006/main">
              <a:ext uri="{FF2B5EF4-FFF2-40B4-BE49-F238E27FC236}">
                <a16:creationId xmlns:a16="http://schemas.microsoft.com/office/drawing/2014/main" id="{7DAB9A3E-FC64-496E-A083-C8306C81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33850"/>
            <a:ext cx="1524000" cy="8001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CD6DF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4334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43341"/>
                </a:solidFill>
                <a:latin typeface="Calibri"/>
                <a:ea typeface="Calibri"/>
                <a:cs typeface="Calibri"/>
              </a:rPr>
              <a:t>Assigned</a:t>
            </a:r>
          </a:p>
          <a:p xmlns:a="http://schemas.openxmlformats.org/drawingml/2006/main">
            <a:pPr algn="ctr">
              <a:defRPr sz="1950" b="0">
                <a:solidFill>
                  <a:srgbClr val="24334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43341"/>
                </a:solidFill>
                <a:latin typeface="Calibri"/>
                <a:ea typeface="Calibri"/>
                <a:cs typeface="Calibri"/>
              </a:rPr>
              <a:t>resources</a:t>
            </a:r>
          </a:p>
        </p:txBody>
      </p:sp>
      <p:sp>
        <p:nvSpPr>
          <p:cNvPr id="67" name="task-specification">
            <a:extLst xmlns:a="http://schemas.openxmlformats.org/drawingml/2006/main">
              <a:ext uri="{FF2B5EF4-FFF2-40B4-BE49-F238E27FC236}">
                <a16:creationId xmlns:a16="http://schemas.microsoft.com/office/drawing/2014/main" id="{A62B60DC-D201-46DD-A781-41E268E7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104900"/>
            <a:ext cx="3886200" cy="2838450"/>
          </a:xfrm>
          <a:prstGeom xmlns:a="http://schemas.openxmlformats.org/drawingml/2006/main" prst="roundRect">
            <a:avLst>
              <a:gd name="adj" fmla="val 33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87E75"/>
            </a:solidFill>
            <a:prstDash val="solid"/>
          </a:ln>
        </p:spPr>
      </p:sp>
      <p:sp>
        <p:nvSpPr>
          <p:cNvPr id="68" name="task-spec-title-bg">
            <a:extLst xmlns:a="http://schemas.openxmlformats.org/drawingml/2006/main">
              <a:ext uri="{FF2B5EF4-FFF2-40B4-BE49-F238E27FC236}">
                <a16:creationId xmlns:a16="http://schemas.microsoft.com/office/drawing/2014/main" id="{92C9E1FD-1BD6-4835-A1D6-C6FF53CD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114425"/>
            <a:ext cx="3867150" cy="504825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E0F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task-spec-title">
            <a:extLst xmlns:a="http://schemas.openxmlformats.org/drawingml/2006/main">
              <a:ext uri="{FF2B5EF4-FFF2-40B4-BE49-F238E27FC236}">
                <a16:creationId xmlns:a16="http://schemas.microsoft.com/office/drawing/2014/main" id="{F18EFF83-D607-4AE0-92B9-61677D6C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181100"/>
            <a:ext cx="361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7E75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87E75"/>
                </a:solidFill>
                <a:latin typeface="Calibri"/>
                <a:ea typeface="Calibri"/>
                <a:cs typeface="Calibri"/>
              </a:rPr>
              <a:t>Shared task specification</a:t>
            </a:r>
          </a:p>
        </p:txBody>
      </p:sp>
      <p:sp>
        <p:nvSpPr>
          <p:cNvPr id="70" name="spec-header-rule">
            <a:extLst xmlns:a="http://schemas.openxmlformats.org/drawingml/2006/main">
              <a:ext uri="{FF2B5EF4-FFF2-40B4-BE49-F238E27FC236}">
                <a16:creationId xmlns:a16="http://schemas.microsoft.com/office/drawing/2014/main" id="{43D8699C-9F6D-49EC-BE88-4C1AB569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628775"/>
            <a:ext cx="3886200" cy="9525"/>
          </a:xfrm>
          <a:custGeom xmlns:a="http://schemas.openxmlformats.org/drawingml/2006/main">
            <a:pathLst>
              <a:path w="3886200" h="9525">
                <a:moveTo>
                  <a:pt x="0" y="0"/>
                </a:moveTo>
                <a:lnTo>
                  <a:pt x="388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BBD7CE"/>
            </a:solidFill>
            <a:prstDash val="solid"/>
          </a:ln>
        </p:spPr>
      </p:sp>
      <p:sp>
        <p:nvSpPr>
          <p:cNvPr id="71" name="spec-column-rule">
            <a:extLst xmlns:a="http://schemas.openxmlformats.org/drawingml/2006/main">
              <a:ext uri="{FF2B5EF4-FFF2-40B4-BE49-F238E27FC236}">
                <a16:creationId xmlns:a16="http://schemas.microsoft.com/office/drawing/2014/main" id="{F889658B-1711-4178-959D-5C7A78F7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762125"/>
            <a:ext cx="9525" cy="1400175"/>
          </a:xfrm>
          <a:custGeom xmlns:a="http://schemas.openxmlformats.org/drawingml/2006/main">
            <a:pathLst>
              <a:path w="9525" h="1400175">
                <a:moveTo>
                  <a:pt x="0" y="0"/>
                </a:moveTo>
                <a:lnTo>
                  <a:pt x="0" y="14001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8E8E2"/>
            </a:solidFill>
            <a:prstDash val="solid"/>
          </a:ln>
        </p:spPr>
      </p:sp>
      <p:sp>
        <p:nvSpPr>
          <p:cNvPr id="72" name="component-Prompt">
            <a:extLst xmlns:a="http://schemas.openxmlformats.org/drawingml/2006/main">
              <a:ext uri="{FF2B5EF4-FFF2-40B4-BE49-F238E27FC236}">
                <a16:creationId xmlns:a16="http://schemas.microsoft.com/office/drawing/2014/main" id="{63742497-3977-4A95-AFEB-B9DDE293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4307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4334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43341"/>
                </a:solidFill>
                <a:latin typeface="Calibri"/>
                <a:ea typeface="Calibri"/>
                <a:cs typeface="Calibri"/>
              </a:rPr>
              <a:t>Prompt</a:t>
            </a:r>
          </a:p>
        </p:txBody>
      </p:sp>
      <p:sp>
        <p:nvSpPr>
          <p:cNvPr id="73" name="component-Environment">
            <a:extLst xmlns:a="http://schemas.openxmlformats.org/drawingml/2006/main">
              <a:ext uri="{FF2B5EF4-FFF2-40B4-BE49-F238E27FC236}">
                <a16:creationId xmlns:a16="http://schemas.microsoft.com/office/drawing/2014/main" id="{A0AF66B6-AD3F-4589-A10C-9C2312FC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4307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4334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43341"/>
                </a:solidFill>
                <a:latin typeface="Calibri"/>
                <a:ea typeface="Calibri"/>
                <a:cs typeface="Calibri"/>
              </a:rPr>
              <a:t>Environment</a:t>
            </a:r>
          </a:p>
        </p:txBody>
      </p:sp>
      <p:sp>
        <p:nvSpPr>
          <p:cNvPr id="74" name="component-Data / inputs">
            <a:extLst xmlns:a="http://schemas.openxmlformats.org/drawingml/2006/main">
              <a:ext uri="{FF2B5EF4-FFF2-40B4-BE49-F238E27FC236}">
                <a16:creationId xmlns:a16="http://schemas.microsoft.com/office/drawing/2014/main" id="{151E0E71-3559-4CC3-8B78-F2E45B92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3837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4334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43341"/>
                </a:solidFill>
                <a:latin typeface="Calibri"/>
                <a:ea typeface="Calibri"/>
                <a:cs typeface="Calibri"/>
              </a:rPr>
              <a:t>Data / inputs</a:t>
            </a:r>
          </a:p>
        </p:txBody>
      </p:sp>
      <p:sp>
        <p:nvSpPr>
          <p:cNvPr id="75" name="component-Answer key">
            <a:extLst xmlns:a="http://schemas.openxmlformats.org/drawingml/2006/main">
              <a:ext uri="{FF2B5EF4-FFF2-40B4-BE49-F238E27FC236}">
                <a16:creationId xmlns:a16="http://schemas.microsoft.com/office/drawing/2014/main" id="{5CD5C4A1-7274-4C90-84CF-968016E5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3837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4334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43341"/>
                </a:solidFill>
                <a:latin typeface="Calibri"/>
                <a:ea typeface="Calibri"/>
                <a:cs typeface="Calibri"/>
              </a:rPr>
              <a:t>Answer key</a:t>
            </a:r>
          </a:p>
        </p:txBody>
      </p:sp>
      <p:sp>
        <p:nvSpPr>
          <p:cNvPr id="76" name="component-Evaluator">
            <a:extLst xmlns:a="http://schemas.openxmlformats.org/drawingml/2006/main">
              <a:ext uri="{FF2B5EF4-FFF2-40B4-BE49-F238E27FC236}">
                <a16:creationId xmlns:a16="http://schemas.microsoft.com/office/drawing/2014/main" id="{DEA1FA88-BF12-4B88-9231-C104732E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3367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4334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43341"/>
                </a:solidFill>
                <a:latin typeface="Calibri"/>
                <a:ea typeface="Calibri"/>
                <a:cs typeface="Calibri"/>
              </a:rPr>
              <a:t>Evaluator</a:t>
            </a:r>
          </a:p>
        </p:txBody>
      </p:sp>
      <p:sp>
        <p:nvSpPr>
          <p:cNvPr id="77" name="component-Actor agents">
            <a:extLst xmlns:a="http://schemas.openxmlformats.org/drawingml/2006/main">
              <a:ext uri="{FF2B5EF4-FFF2-40B4-BE49-F238E27FC236}">
                <a16:creationId xmlns:a16="http://schemas.microsoft.com/office/drawing/2014/main" id="{567353BD-C7A8-41FC-8382-70DC4EBC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3367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4334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43341"/>
                </a:solidFill>
                <a:latin typeface="Calibri"/>
                <a:ea typeface="Calibri"/>
                <a:cs typeface="Calibri"/>
              </a:rPr>
              <a:t>Actor agents</a:t>
            </a:r>
          </a:p>
        </p:txBody>
      </p:sp>
      <p:sp>
        <p:nvSpPr>
          <p:cNvPr id="78" name="component-tools-band">
            <a:extLst xmlns:a="http://schemas.openxmlformats.org/drawingml/2006/main">
              <a:ext uri="{FF2B5EF4-FFF2-40B4-BE49-F238E27FC236}">
                <a16:creationId xmlns:a16="http://schemas.microsoft.com/office/drawing/2014/main" id="{1C04E422-648A-410E-AED5-B4044B91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295650"/>
            <a:ext cx="3867150" cy="638175"/>
          </a:xfrm>
          <a:prstGeom xmlns:a="http://schemas.openxmlformats.org/drawingml/2006/main" prst="roundRect">
            <a:avLst>
              <a:gd name="adj" fmla="val 13433"/>
            </a:avLst>
          </a:prstGeom>
          <a:solidFill xmlns:a="http://schemas.openxmlformats.org/drawingml/2006/main">
            <a:srgbClr val="E0F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component-tools-rule">
            <a:extLst xmlns:a="http://schemas.openxmlformats.org/drawingml/2006/main">
              <a:ext uri="{FF2B5EF4-FFF2-40B4-BE49-F238E27FC236}">
                <a16:creationId xmlns:a16="http://schemas.microsoft.com/office/drawing/2014/main" id="{EF66C002-07CE-4B20-82BC-55B0A7FA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95650"/>
            <a:ext cx="3886200" cy="9525"/>
          </a:xfrm>
          <a:custGeom xmlns:a="http://schemas.openxmlformats.org/drawingml/2006/main">
            <a:pathLst>
              <a:path w="3886200" h="9525">
                <a:moveTo>
                  <a:pt x="0" y="0"/>
                </a:moveTo>
                <a:lnTo>
                  <a:pt x="388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BBD7CE"/>
            </a:solidFill>
            <a:prstDash val="solid"/>
          </a:ln>
        </p:spPr>
      </p:sp>
      <p:sp>
        <p:nvSpPr>
          <p:cNvPr id="80" name="component-tools-label">
            <a:extLst xmlns:a="http://schemas.openxmlformats.org/drawingml/2006/main">
              <a:ext uri="{FF2B5EF4-FFF2-40B4-BE49-F238E27FC236}">
                <a16:creationId xmlns:a16="http://schemas.microsoft.com/office/drawing/2014/main" id="{E7D52127-BC35-4C76-AC25-60AE5F5C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09950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7E75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87E75"/>
                </a:solidFill>
                <a:latin typeface="Calibri"/>
                <a:ea typeface="Calibri"/>
                <a:cs typeface="Calibri"/>
              </a:rPr>
              <a:t>Component-specific tools</a:t>
            </a:r>
          </a:p>
        </p:txBody>
      </p:sp>
      <p:sp>
        <p:nvSpPr>
          <p:cNvPr id="81" name="toolbox">
            <a:extLst xmlns:a="http://schemas.openxmlformats.org/drawingml/2006/main">
              <a:ext uri="{FF2B5EF4-FFF2-40B4-BE49-F238E27FC236}">
                <a16:creationId xmlns:a16="http://schemas.microsoft.com/office/drawing/2014/main" id="{08DCF097-58EB-41D0-B77C-51C115E7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524250"/>
            <a:ext cx="257175" cy="1905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15240">
            <a:solidFill>
              <a:srgbClr val="187E75"/>
            </a:solidFill>
            <a:prstDash val="solid"/>
          </a:ln>
        </p:spPr>
      </p:sp>
      <p:sp>
        <p:nvSpPr>
          <p:cNvPr id="82" name="toolbox-handle">
            <a:extLst xmlns:a="http://schemas.openxmlformats.org/drawingml/2006/main">
              <a:ext uri="{FF2B5EF4-FFF2-40B4-BE49-F238E27FC236}">
                <a16:creationId xmlns:a16="http://schemas.microsoft.com/office/drawing/2014/main" id="{56114162-4130-45AD-85FE-42DD6645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67100"/>
            <a:ext cx="104775" cy="57150"/>
          </a:xfrm>
          <a:custGeom xmlns:a="http://schemas.openxmlformats.org/drawingml/2006/main">
            <a:pathLst>
              <a:path w="104775" h="57150">
                <a:moveTo>
                  <a:pt x="0" y="57150"/>
                </a:moveTo>
                <a:lnTo>
                  <a:pt x="0" y="0"/>
                </a:lnTo>
                <a:lnTo>
                  <a:pt x="104775" y="0"/>
                </a:lnTo>
                <a:lnTo>
                  <a:pt x="104775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187E75"/>
            </a:solidFill>
            <a:prstDash val="solid"/>
          </a:ln>
        </p:spPr>
      </p:sp>
      <p:sp>
        <p:nvSpPr>
          <p:cNvPr id="83" name="toolbox-opening">
            <a:extLst xmlns:a="http://schemas.openxmlformats.org/drawingml/2006/main">
              <a:ext uri="{FF2B5EF4-FFF2-40B4-BE49-F238E27FC236}">
                <a16:creationId xmlns:a16="http://schemas.microsoft.com/office/drawing/2014/main" id="{FE17B4F6-0103-4AF4-984C-93C5217D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609975"/>
            <a:ext cx="257175" cy="9525"/>
          </a:xfrm>
          <a:custGeom xmlns:a="http://schemas.openxmlformats.org/drawingml/2006/main">
            <a:pathLst>
              <a:path w="257175" h="952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87E75"/>
            </a:solidFill>
            <a:prstDash val="solid"/>
          </a:ln>
        </p:spPr>
      </p:sp>
      <p:sp>
        <p:nvSpPr>
          <p:cNvPr id="84" name="toolbox-latch">
            <a:extLst xmlns:a="http://schemas.openxmlformats.org/drawingml/2006/main">
              <a:ext uri="{FF2B5EF4-FFF2-40B4-BE49-F238E27FC236}">
                <a16:creationId xmlns:a16="http://schemas.microsoft.com/office/drawing/2014/main" id="{52E81A19-D431-401E-A445-15586639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581400"/>
            <a:ext cx="57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E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quality-check">
            <a:extLst xmlns:a="http://schemas.openxmlformats.org/drawingml/2006/main">
              <a:ext uri="{FF2B5EF4-FFF2-40B4-BE49-F238E27FC236}">
                <a16:creationId xmlns:a16="http://schemas.microsoft.com/office/drawing/2014/main" id="{F1FEFF25-3326-444D-A820-BE26260E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248150"/>
            <a:ext cx="1371600" cy="685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CF0EB"/>
          </a:solidFill>
          <a:ln xmlns:a="http://schemas.openxmlformats.org/drawingml/2006/main" w="15240">
            <a:solidFill>
              <a:srgbClr val="AD5948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AD594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AD5948"/>
                </a:solidFill>
                <a:latin typeface="Calibri"/>
                <a:ea typeface="Calibri"/>
                <a:cs typeface="Calibri"/>
              </a:rPr>
              <a:t>Quality</a:t>
            </a:r>
          </a:p>
          <a:p xmlns:a="http://schemas.openxmlformats.org/drawingml/2006/main">
            <a:pPr algn="ctr">
              <a:defRPr sz="2025" b="1">
                <a:solidFill>
                  <a:srgbClr val="AD594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AD5948"/>
                </a:solidFill>
                <a:latin typeface="Calibri"/>
                <a:ea typeface="Calibri"/>
                <a:cs typeface="Calibri"/>
              </a:rPr>
              <a:t>check</a:t>
            </a:r>
          </a:p>
        </p:txBody>
      </p:sp>
      <p:sp>
        <p:nvSpPr>
          <p:cNvPr id="86" name="qc-failure-label">
            <a:extLst xmlns:a="http://schemas.openxmlformats.org/drawingml/2006/main">
              <a:ext uri="{FF2B5EF4-FFF2-40B4-BE49-F238E27FC236}">
                <a16:creationId xmlns:a16="http://schemas.microsoft.com/office/drawing/2014/main" id="{1C7356F9-1287-4117-A621-5B1CD6BC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276725"/>
            <a:ext cx="409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AD5948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AD5948"/>
                </a:solidFill>
                <a:latin typeface="Calibri"/>
                <a:ea typeface="Calibri"/>
                <a:cs typeface="Calibri"/>
              </a:rPr>
              <a:t>Fail</a:t>
            </a:r>
          </a:p>
        </p:txBody>
      </p:sp>
      <p:sp>
        <p:nvSpPr>
          <p:cNvPr id="87" name="probe-review">
            <a:extLst xmlns:a="http://schemas.openxmlformats.org/drawingml/2006/main">
              <a:ext uri="{FF2B5EF4-FFF2-40B4-BE49-F238E27FC236}">
                <a16:creationId xmlns:a16="http://schemas.microsoft.com/office/drawing/2014/main" id="{B4F6923F-DEF5-4A66-B57D-8FBBD5F3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219700"/>
            <a:ext cx="1619250" cy="6096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ECE5F5"/>
          </a:solidFill>
          <a:ln xmlns:a="http://schemas.openxmlformats.org/drawingml/2006/main" w="15240">
            <a:solidFill>
              <a:srgbClr val="7454A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454A2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7454A2"/>
                </a:solidFill>
                <a:latin typeface="Calibri"/>
                <a:ea typeface="Calibri"/>
                <a:cs typeface="Calibri"/>
              </a:rPr>
              <a:t>Analyzer</a:t>
            </a:r>
          </a:p>
          <a:p xmlns:a="http://schemas.openxmlformats.org/drawingml/2006/main">
            <a:pPr algn="ctr">
              <a:defRPr sz="1950" b="1">
                <a:solidFill>
                  <a:srgbClr val="7454A2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7454A2"/>
                </a:solidFill>
                <a:latin typeface="Calibri"/>
                <a:ea typeface="Calibri"/>
                <a:cs typeface="Calibri"/>
              </a:rPr>
              <a:t>review</a:t>
            </a:r>
          </a:p>
        </p:txBody>
      </p:sp>
      <p:sp>
        <p:nvSpPr>
          <p:cNvPr id="88" name="evaluation">
            <a:extLst xmlns:a="http://schemas.openxmlformats.org/drawingml/2006/main">
              <a:ext uri="{FF2B5EF4-FFF2-40B4-BE49-F238E27FC236}">
                <a16:creationId xmlns:a16="http://schemas.microsoft.com/office/drawing/2014/main" id="{D71620EF-27DF-49E5-93B7-91C0F466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48150"/>
            <a:ext cx="1428750" cy="685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0F1EC"/>
          </a:solidFill>
          <a:ln xmlns:a="http://schemas.openxmlformats.org/drawingml/2006/main" w="15240">
            <a:solidFill>
              <a:srgbClr val="187E75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7E75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87E75"/>
                </a:solidFill>
                <a:latin typeface="Calibri"/>
                <a:ea typeface="Calibri"/>
                <a:cs typeface="Calibri"/>
              </a:rPr>
              <a:t>Evaluate</a:t>
            </a:r>
          </a:p>
          <a:p xmlns:a="http://schemas.openxmlformats.org/drawingml/2006/main">
            <a:pPr algn="ctr">
              <a:defRPr sz="1950" b="1">
                <a:solidFill>
                  <a:srgbClr val="187E75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87E75"/>
                </a:solidFill>
                <a:latin typeface="Calibri"/>
                <a:ea typeface="Calibri"/>
                <a:cs typeface="Calibri"/>
              </a:rPr>
              <a:t>models</a:t>
            </a:r>
          </a:p>
        </p:txBody>
      </p:sp>
      <p:sp>
        <p:nvSpPr>
          <p:cNvPr id="89" name="review-request-label-bg">
            <a:extLst xmlns:a="http://schemas.openxmlformats.org/drawingml/2006/main">
              <a:ext uri="{FF2B5EF4-FFF2-40B4-BE49-F238E27FC236}">
                <a16:creationId xmlns:a16="http://schemas.microsoft.com/office/drawing/2014/main" id="{9722860E-5CA9-4C75-A397-78767514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219700"/>
            <a:ext cx="14382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review-request-label">
            <a:extLst xmlns:a="http://schemas.openxmlformats.org/drawingml/2006/main">
              <a:ext uri="{FF2B5EF4-FFF2-40B4-BE49-F238E27FC236}">
                <a16:creationId xmlns:a16="http://schemas.microsoft.com/office/drawing/2014/main" id="{4959342E-1F7F-4455-96AA-B1E66FC2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219700"/>
            <a:ext cx="1438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7454A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7454A2"/>
                </a:solidFill>
                <a:latin typeface="Calibri"/>
                <a:ea typeface="Calibri"/>
                <a:cs typeface="Calibri"/>
              </a:rPr>
              <a:t>Refinement</a:t>
            </a:r>
          </a:p>
          <a:p xmlns:a="http://schemas.openxmlformats.org/drawingml/2006/main">
            <a:pPr algn="ctr">
              <a:defRPr sz="1950" b="0">
                <a:solidFill>
                  <a:srgbClr val="7454A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7454A2"/>
                </a:solidFill>
                <a:latin typeface="Calibri"/>
                <a:ea typeface="Calibri"/>
                <a:cs typeface="Calibri"/>
              </a:rPr>
              <a:t>requests</a:t>
            </a:r>
          </a:p>
        </p:txBody>
      </p:sp>
      <p:sp>
        <p:nvSpPr>
          <p:cNvPr id="91" name="evidence">
            <a:extLst xmlns:a="http://schemas.openxmlformats.org/drawingml/2006/main">
              <a:ext uri="{FF2B5EF4-FFF2-40B4-BE49-F238E27FC236}">
                <a16:creationId xmlns:a16="http://schemas.microsoft.com/office/drawing/2014/main" id="{11A2C575-EFEC-444A-A889-AA078948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1057275"/>
            <a:ext cx="3105150" cy="809625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CD6DF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4334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43341"/>
                </a:solidFill>
                <a:latin typeface="Calibri"/>
                <a:ea typeface="Calibri"/>
                <a:cs typeface="Calibri"/>
              </a:rPr>
              <a:t>Tasks + results</a:t>
            </a:r>
          </a:p>
          <a:p xmlns:a="http://schemas.openxmlformats.org/drawingml/2006/main">
            <a:pPr algn="ctr">
              <a:defRPr sz="1950" b="0">
                <a:solidFill>
                  <a:srgbClr val="24334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43341"/>
                </a:solidFill>
                <a:latin typeface="Calibri"/>
                <a:ea typeface="Calibri"/>
                <a:cs typeface="Calibri"/>
              </a:rPr>
              <a:t>Scores · execution traces</a:t>
            </a:r>
          </a:p>
        </p:txBody>
      </p:sp>
      <p:sp>
        <p:nvSpPr>
          <p:cNvPr id="92" name="analyzer">
            <a:extLst xmlns:a="http://schemas.openxmlformats.org/drawingml/2006/main">
              <a:ext uri="{FF2B5EF4-FFF2-40B4-BE49-F238E27FC236}">
                <a16:creationId xmlns:a16="http://schemas.microsoft.com/office/drawing/2014/main" id="{E778E147-5752-4340-A435-33EACB9E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181225"/>
            <a:ext cx="2247900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CE5F5"/>
          </a:solidFill>
          <a:ln xmlns:a="http://schemas.openxmlformats.org/drawingml/2006/main" w="15240">
            <a:solidFill>
              <a:srgbClr val="7454A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7454A2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7454A2"/>
                </a:solidFill>
                <a:latin typeface="Calibri"/>
                <a:ea typeface="Calibri"/>
                <a:cs typeface="Calibri"/>
              </a:rPr>
              <a:t>Analyzer</a:t>
            </a:r>
          </a:p>
        </p:txBody>
      </p:sp>
      <p:sp>
        <p:nvSpPr>
          <p:cNvPr id="93" name="hypotheses">
            <a:extLst xmlns:a="http://schemas.openxmlformats.org/drawingml/2006/main">
              <a:ext uri="{FF2B5EF4-FFF2-40B4-BE49-F238E27FC236}">
                <a16:creationId xmlns:a16="http://schemas.microsoft.com/office/drawing/2014/main" id="{1BDAB719-DC73-43CE-9A5C-0F5018F7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124200"/>
            <a:ext cx="3009900" cy="6286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454A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454A2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7454A2"/>
                </a:solidFill>
                <a:latin typeface="Calibri"/>
                <a:ea typeface="Calibri"/>
                <a:cs typeface="Calibri"/>
              </a:rPr>
              <a:t>Capability hypotheses</a:t>
            </a:r>
          </a:p>
        </p:txBody>
      </p:sp>
      <p:sp>
        <p:nvSpPr>
          <p:cNvPr id="94" name="probe-label-bg">
            <a:extLst xmlns:a="http://schemas.openxmlformats.org/drawingml/2006/main">
              <a:ext uri="{FF2B5EF4-FFF2-40B4-BE49-F238E27FC236}">
                <a16:creationId xmlns:a16="http://schemas.microsoft.com/office/drawing/2014/main" id="{78E5EA79-0B0C-4C2B-AAD1-7CE7F283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3914775"/>
            <a:ext cx="952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robe-label">
            <a:extLst xmlns:a="http://schemas.openxmlformats.org/drawingml/2006/main">
              <a:ext uri="{FF2B5EF4-FFF2-40B4-BE49-F238E27FC236}">
                <a16:creationId xmlns:a16="http://schemas.microsoft.com/office/drawing/2014/main" id="{523DD073-EC0B-43C4-AFA6-C71882A9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3914775"/>
            <a:ext cx="95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7454A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7454A2"/>
                </a:solidFill>
                <a:latin typeface="Calibri"/>
                <a:ea typeface="Calibri"/>
                <a:cs typeface="Calibri"/>
              </a:rPr>
              <a:t>Test</a:t>
            </a:r>
          </a:p>
        </p:txBody>
      </p:sp>
      <p:sp>
        <p:nvSpPr>
          <p:cNvPr id="96" name="conclude-label-bg">
            <a:extLst xmlns:a="http://schemas.openxmlformats.org/drawingml/2006/main">
              <a:ext uri="{FF2B5EF4-FFF2-40B4-BE49-F238E27FC236}">
                <a16:creationId xmlns:a16="http://schemas.microsoft.com/office/drawing/2014/main" id="{23EAD5CF-EB32-4F46-85B7-2C3542D1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3914775"/>
            <a:ext cx="1057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conclude-label">
            <a:extLst xmlns:a="http://schemas.openxmlformats.org/drawingml/2006/main">
              <a:ext uri="{FF2B5EF4-FFF2-40B4-BE49-F238E27FC236}">
                <a16:creationId xmlns:a16="http://schemas.microsoft.com/office/drawing/2014/main" id="{7010BB0E-F38F-4E81-98D6-06B7F4E4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3914775"/>
            <a:ext cx="1057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7454A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7454A2"/>
                </a:solidFill>
                <a:latin typeface="Calibri"/>
                <a:ea typeface="Calibri"/>
                <a:cs typeface="Calibri"/>
              </a:rPr>
              <a:t>Conclude</a:t>
            </a:r>
          </a:p>
        </p:txBody>
      </p:sp>
      <p:sp>
        <p:nvSpPr>
          <p:cNvPr id="98" name="follow-up">
            <a:extLst xmlns:a="http://schemas.openxmlformats.org/drawingml/2006/main">
              <a:ext uri="{FF2B5EF4-FFF2-40B4-BE49-F238E27FC236}">
                <a16:creationId xmlns:a16="http://schemas.microsoft.com/office/drawing/2014/main" id="{A2F82F53-1B2D-4426-A22B-F4BE81D6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324350"/>
            <a:ext cx="1657350" cy="8001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CE5F5"/>
          </a:solidFill>
          <a:ln xmlns:a="http://schemas.openxmlformats.org/drawingml/2006/main" w="15240">
            <a:solidFill>
              <a:srgbClr val="7454A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454A2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7454A2"/>
                </a:solidFill>
                <a:latin typeface="Calibri"/>
                <a:ea typeface="Calibri"/>
                <a:cs typeface="Calibri"/>
              </a:rPr>
              <a:t>Follow-up</a:t>
            </a:r>
          </a:p>
          <a:p xmlns:a="http://schemas.openxmlformats.org/drawingml/2006/main">
            <a:pPr algn="ctr">
              <a:defRPr sz="1950" b="1">
                <a:solidFill>
                  <a:srgbClr val="7454A2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7454A2"/>
                </a:solidFill>
                <a:latin typeface="Calibri"/>
                <a:ea typeface="Calibri"/>
                <a:cs typeface="Calibri"/>
              </a:rPr>
              <a:t>demand</a:t>
            </a:r>
          </a:p>
        </p:txBody>
      </p:sp>
      <p:sp>
        <p:nvSpPr>
          <p:cNvPr id="99" name="outputs">
            <a:extLst xmlns:a="http://schemas.openxmlformats.org/drawingml/2006/main">
              <a:ext uri="{FF2B5EF4-FFF2-40B4-BE49-F238E27FC236}">
                <a16:creationId xmlns:a16="http://schemas.microsoft.com/office/drawing/2014/main" id="{9317154A-D2AE-470A-82CA-F45445CF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324350"/>
            <a:ext cx="1485900" cy="8001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454A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454A2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7454A2"/>
                </a:solidFill>
                <a:latin typeface="Calibri"/>
                <a:ea typeface="Calibri"/>
                <a:cs typeface="Calibri"/>
              </a:rPr>
              <a:t>Benchmark</a:t>
            </a:r>
          </a:p>
          <a:p xmlns:a="http://schemas.openxmlformats.org/drawingml/2006/main">
            <a:pPr algn="ctr">
              <a:defRPr sz="1950" b="1">
                <a:solidFill>
                  <a:srgbClr val="7454A2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7454A2"/>
                </a:solidFill>
                <a:latin typeface="Calibri"/>
                <a:ea typeface="Calibri"/>
                <a:cs typeface="Calibri"/>
              </a:rPr>
              <a:t>+ report</a:t>
            </a:r>
          </a:p>
        </p:txBody>
      </p:sp>
      <p:sp>
        <p:nvSpPr>
          <p:cNvPr id="100" name="loop-label-bg">
            <a:extLst xmlns:a="http://schemas.openxmlformats.org/drawingml/2006/main">
              <a:ext uri="{FF2B5EF4-FFF2-40B4-BE49-F238E27FC236}">
                <a16:creationId xmlns:a16="http://schemas.microsoft.com/office/drawing/2014/main" id="{8110C969-7910-4734-9ABA-84803834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6143625"/>
            <a:ext cx="59245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loop-label">
            <a:extLst xmlns:a="http://schemas.openxmlformats.org/drawingml/2006/main">
              <a:ext uri="{FF2B5EF4-FFF2-40B4-BE49-F238E27FC236}">
                <a16:creationId xmlns:a16="http://schemas.microsoft.com/office/drawing/2014/main" id="{B8A52423-ED50-4CE4-AA3A-F9A8234A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6143625"/>
            <a:ext cx="5924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454A2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7454A2"/>
                </a:solidFill>
                <a:latin typeface="Calibri"/>
                <a:ea typeface="Calibri"/>
                <a:cs typeface="Calibri"/>
              </a:rPr>
              <a:t>New demands via the same pipeline</a:t>
            </a:r>
          </a:p>
        </p:txBody>
      </p:sp>
      <p:sp>
        <p:nvSpPr>
          <p:cNvPr id="102" name="research-search-lens">
            <a:extLst xmlns:a="http://schemas.openxmlformats.org/drawingml/2006/main">
              <a:ext uri="{FF2B5EF4-FFF2-40B4-BE49-F238E27FC236}">
                <a16:creationId xmlns:a16="http://schemas.microsoft.com/office/drawing/2014/main" id="{09E8E59C-DF8D-40FC-87F5-4731F2CD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105275"/>
            <a:ext cx="190500" cy="190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356EA6"/>
            </a:solidFill>
            <a:prstDash val="solid"/>
          </a:ln>
        </p:spPr>
      </p:sp>
      <p:sp>
        <p:nvSpPr>
          <p:cNvPr id="103" name="research-search-handle">
            <a:extLst xmlns:a="http://schemas.openxmlformats.org/drawingml/2006/main">
              <a:ext uri="{FF2B5EF4-FFF2-40B4-BE49-F238E27FC236}">
                <a16:creationId xmlns:a16="http://schemas.microsoft.com/office/drawing/2014/main" id="{3762D86D-41FC-4ECE-910B-CAE76653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267200"/>
            <a:ext cx="76200" cy="85725"/>
          </a:xfrm>
          <a:custGeom xmlns:a="http://schemas.openxmlformats.org/drawingml/2006/main">
            <a:pathLst>
              <a:path w="76200" h="85725">
                <a:moveTo>
                  <a:pt x="0" y="0"/>
                </a:moveTo>
                <a:lnTo>
                  <a:pt x="76200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356EA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158089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2026-09-21T13:08:15.7790000Z</dcterms:created>
  <dcterms:modified xsi:type="dcterms:W3CDTF">2026-09-21T13:08:15.7790000Z</dcterms:modified>
</coreProperties>
</file>